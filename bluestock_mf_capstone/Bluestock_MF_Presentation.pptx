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D4FF"/>
                </a:solidFill>
                <a:latin typeface="Arial"/>
              </a:defRPr>
            </a:pPr>
            <a:r>
              <a:t>BLUESTOCK MUTUAL FUND ANALYTICS</a:t>
            </a:r>
          </a:p>
          <a:p>
            <a:pPr>
              <a:spcBef>
                <a:spcPts val="1000"/>
              </a:spcBef>
              <a:defRPr sz="1800">
                <a:solidFill>
                  <a:srgbClr val="1E90FF"/>
                </a:solidFill>
                <a:latin typeface="Arial"/>
              </a:defRPr>
            </a:pPr>
            <a:r>
              <a:t>End-to-End ETL, Analytics, and Data Visualization Pipeline</a:t>
            </a:r>
          </a:p>
          <a:p>
            <a:pPr>
              <a:spcBef>
                <a:spcPts val="3000"/>
              </a:spcBef>
              <a:defRPr sz="1200">
                <a:solidFill>
                  <a:srgbClr val="8899AA"/>
                </a:solidFill>
                <a:latin typeface="Arial"/>
              </a:defRPr>
            </a:pPr>
            <a:r>
              <a:t>Prepared by: Divvyansh Kudesiaa</a:t>
            </a:r>
            <a:br/>
            <a:r>
              <a:t>Date: June 2026</a:t>
            </a:r>
            <a:br/>
            <a:r>
              <a:t>Capstone Project Deliverable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1E90FF"/>
                </a:solidFill>
              </a:defRPr>
            </a:pPr>
            <a:r>
              <a:t>Challenges in Mutual Fund Distribution Platforms: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Heterogeneous Data Sources: Hard to merge static PDFs/CSVs with live transactional streams.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Risk Calculations: Lack of dynamic computations for Alpha, Beta, Sharpe, and Sortino metrics.</a:t>
            </a:r>
          </a:p>
          <a:p>
            <a:pPr>
              <a:spcAft>
                <a:spcPts val="2000"/>
              </a:spcAft>
              <a:defRPr sz="1400">
                <a:solidFill>
                  <a:srgbClr val="FFFFFF"/>
                </a:solidFill>
              </a:defRPr>
            </a:pPr>
            <a:r>
              <a:t>• Investor Personalization: Distribution models do not align with client risk appetites.</a:t>
            </a:r>
          </a:p>
          <a:p>
            <a:pPr>
              <a:spcAft>
                <a:spcPts val="800"/>
              </a:spcAft>
              <a:defRPr b="1" sz="1800">
                <a:solidFill>
                  <a:srgbClr val="00E676"/>
                </a:solidFill>
              </a:defRPr>
            </a:pPr>
            <a:r>
              <a:t>Core Capstone Goals: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Automate ETL pipeline, load structured relational star schema database, and validate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HETEROGENEOUS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t>The pipeline integrates 10 distinct datasets from Google Drive &amp; live APIs:</a:t>
            </a:r>
          </a:p>
          <a:p>
            <a:pPr>
              <a:spcAft>
                <a:spcPts val="600"/>
              </a:spcAft>
              <a:defRPr sz="1300">
                <a:solidFill>
                  <a:srgbClr val="8899AA"/>
                </a:solidFill>
              </a:defRPr>
            </a:pPr>
            <a:r>
              <a:t>• 1. Fund Master (CSV): AMC details, launch date, benchmark and expense ratios.</a:t>
            </a:r>
          </a:p>
          <a:p>
            <a:pPr>
              <a:spcAft>
                <a:spcPts val="600"/>
              </a:spcAft>
              <a:defRPr sz="1300">
                <a:solidFill>
                  <a:srgbClr val="8899AA"/>
                </a:solidFill>
              </a:defRPr>
            </a:pPr>
            <a:r>
              <a:t>• 2. NAV History (CSV): 46,000+ daily NAV prices across 40 schemes.</a:t>
            </a:r>
          </a:p>
          <a:p>
            <a:pPr>
              <a:spcAft>
                <a:spcPts val="600"/>
              </a:spcAft>
              <a:defRPr sz="1300">
                <a:solidFill>
                  <a:srgbClr val="8899AA"/>
                </a:solidFill>
              </a:defRPr>
            </a:pPr>
            <a:r>
              <a:t>• 3. Live NAV (API): Live daily values scraped from API.mfapi.in and portal.amfiindia.com.</a:t>
            </a:r>
          </a:p>
          <a:p>
            <a:pPr>
              <a:spcAft>
                <a:spcPts val="600"/>
              </a:spcAft>
              <a:defRPr sz="1300">
                <a:solidFill>
                  <a:srgbClr val="8899AA"/>
                </a:solidFill>
              </a:defRPr>
            </a:pPr>
            <a:r>
              <a:t>• 4. Industry AUM (CSV): Asset sizes and scheme counts for 90 AMCs.</a:t>
            </a:r>
          </a:p>
          <a:p>
            <a:pPr>
              <a:spcAft>
                <a:spcPts val="600"/>
              </a:spcAft>
              <a:defRPr sz="1300">
                <a:solidFill>
                  <a:srgbClr val="8899AA"/>
                </a:solidFill>
              </a:defRPr>
            </a:pPr>
            <a:r>
              <a:t>• 5. Category Inflows (CSV): 144 months of net flows across categories.</a:t>
            </a:r>
          </a:p>
          <a:p>
            <a:pPr>
              <a:spcAft>
                <a:spcPts val="600"/>
              </a:spcAft>
              <a:defRPr sz="1300">
                <a:solidFill>
                  <a:srgbClr val="8899AA"/>
                </a:solidFill>
              </a:defRPr>
            </a:pPr>
            <a:r>
              <a:t>• 6. Retail Transactions (CSV): 32,778 transaction records detailing investor age, state, and payment mode.</a:t>
            </a:r>
          </a:p>
          <a:p>
            <a:pPr>
              <a:spcAft>
                <a:spcPts val="600"/>
              </a:spcAft>
              <a:defRPr sz="1300">
                <a:solidFill>
                  <a:srgbClr val="8899AA"/>
                </a:solidFill>
              </a:defRPr>
            </a:pPr>
            <a:r>
              <a:t>• 7. Portfolio Holdings (CSV): Stock weights for each scheme.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PIPELINE ARCHITECTURE &amp; ETL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1E90FF"/>
                </a:solidFill>
              </a:defRPr>
            </a:pPr>
            <a:r>
              <a:t>Extract-Transform-Load Pipeline Orchestration: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1. Ingestion: Downloads raw datasets from Google Drive and updates live NAVs from APIs.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2. Transformation: Handles duplicates, standardises transaction types/KYC states, clips expense ratio outliers (0.1%-2.5%).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3. Re-indexing: Generates full calendar ranges per scheme and forward-fills missing weekend/holiday NAVs.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4. Star Schema: Populates dim_fund, dim_date, fact_nav, fact_transactions, fact_performance, and fact_aum inside SQLite.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5. Visualization: generate_dashboard.py constructs 4 PNG reports and combines them into Dashboard.pdf.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EDA HIGHLIGHTS: INDUSTRY AUM &amp; SIP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1E90FF"/>
                </a:solidFill>
              </a:defRPr>
            </a:pPr>
            <a:r>
              <a:t>Industry AUM Expansion: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Market assets under management for the top 10 AMCs rose from ₹3.2L Cr to over ₹5.6L Cr.</a:t>
            </a:r>
            <a:br/>
            <a:r>
              <a:t>• SBI, ICICI, and HDFC represent the largest market shares, accounting for over 56% of total sector AUM.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00E676"/>
                </a:solidFill>
              </a:defRPr>
            </a:pPr>
            <a:r>
              <a:t>SIP Inflow Trends: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Monthly SIP inflows grew from ~₹11,000 Crore to over ₹16,000 Crore.</a:t>
            </a:r>
            <a:br/>
            <a:r>
              <a:t>• Showcases stable recurring retail investments that resist direct market volatility.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EDA HIGHLIGHTS: RETAIL DEMOGRAPHICS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1E90FF"/>
                </a:solidFill>
              </a:defRPr>
            </a:pPr>
            <a:r>
              <a:t>Key Insights from 32,000+ Retail Transactions: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Geographic Concentration: Maharashtra, Gujarat, Karnataka, Delhi, and Tamil Nadu comprise 60%+ of investment values.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Age Breakdown: The 26-35 age bracket forms the highest transaction count (tech-savvy young professionals).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Ticket Sizes: Younger investors prefer smaller recurring SIPs; older brackets (46-55, 56+) commit large lumpsum ticket sizes.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Payment Modes: UPI and Mandate transfers dominate SIP setups, while Net Banking remains preferred for lumpsums.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KYC Compliance: Overall KYC verification rate is at 92.4%, showing high compliance but leaving room for platform onboarding improvements.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PERFORMANCE METRICS: RISK VS RETURN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1E90FF"/>
                </a:solidFill>
              </a:defRPr>
            </a:pPr>
            <a:r>
              <a:t>Risk-Return Profiles: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Scatter mapping returns against standard deviation reveals equity categories reside in high-volatility zones.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• Benchmark comparison chart shows Axis Bluechip and SBI Bluechip outperforming Nifty 50 on a risk-adjusted basis (lower drawdowns).</a:t>
            </a:r>
          </a:p>
        </p:txBody>
      </p:sp>
      <p:pic>
        <p:nvPicPr>
          <p:cNvPr id="4" name="Picture 3" descr="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PERFORMANCE METRICS: RISK-ADJUSTED RATIOS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1E90FF"/>
                </a:solidFill>
              </a:defRPr>
            </a:pPr>
            <a:r>
              <a:t>Statistical Variables Computed: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Sharpe Ratio: Excess returns per unit of total risk.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Sortino Ratio: Volatility index based purely on negative downside returns.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Alpha: Active outperformance against benchmark indices.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Beta: Systemic risk sensitivity relative to the market index.</a:t>
            </a:r>
          </a:p>
        </p:txBody>
      </p:sp>
      <p:pic>
        <p:nvPicPr>
          <p:cNvPr id="4" name="Picture 3" descr="rolling_shar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DASHBOARD: INDUSTRY &amp; FUND OVERVIEW</a:t>
            </a:r>
          </a:p>
        </p:txBody>
      </p:sp>
      <p:pic>
        <p:nvPicPr>
          <p:cNvPr id="3" name="Picture 2" descr="Page1_Industr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84048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Page 1: Industry Overview</a:t>
            </a:r>
            <a:br/>
            <a:r>
              <a:t>Total AUM, SIP growth trends, and active scheme distributions.</a:t>
            </a:r>
          </a:p>
        </p:txBody>
      </p:sp>
      <p:pic>
        <p:nvPicPr>
          <p:cNvPr id="5" name="Picture 4" descr="Page2_Fund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84048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3657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Page 2: Fund Performance</a:t>
            </a:r>
            <a:br/>
            <a:r>
              <a:t>Risk scatters, top schemes scorecard, and NAV benchmark tracking.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DASHBOARD: INVESTOR &amp; SIP TRENDS</a:t>
            </a:r>
          </a:p>
        </p:txBody>
      </p:sp>
      <p:pic>
        <p:nvPicPr>
          <p:cNvPr id="3" name="Picture 2" descr="Page3_Investo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84048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Page 3: Investor Analytics</a:t>
            </a:r>
            <a:br/>
            <a:r>
              <a:t>State transaction volumes, product splits, and age preferences.</a:t>
            </a:r>
          </a:p>
        </p:txBody>
      </p:sp>
      <p:pic>
        <p:nvPicPr>
          <p:cNvPr id="5" name="Picture 4" descr="Page4_SIP_Market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84048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46320" y="3657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Page 4: SIP &amp; Market Trends</a:t>
            </a:r>
            <a:br/>
            <a:r>
              <a:t>SIP correlation with index values and monthly category net flows.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4FF"/>
                </a:solidFill>
                <a:latin typeface="Arial"/>
              </a:defRPr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1E90FF"/>
                </a:solidFill>
              </a:defRPr>
            </a:pPr>
            <a:r>
              <a:t>Actionable Insights for Mutual Fund Platforms: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1. Focus on Tier-2/3 Geographic Expansion: Build UPI Auto-Pay integrations to ease digital boarding.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2. Automated Risk profiling: Use CLI recommender models to automate fund suggestions by Sharpe ratio.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3. Highlight Expense Ratios: Clear comparison between Direct vs Regular plans increases customer retention.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• 4. SIP Engagement: Gamify SIP milestones or alerts during market dips to maintain monthly investing discipline.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00D4FF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Aft>
                <a:spcPts val="2000"/>
              </a:spcAft>
              <a:defRPr sz="2000">
                <a:solidFill>
                  <a:srgbClr val="1E90FF"/>
                </a:solidFill>
                <a:latin typeface="Arial"/>
              </a:defRPr>
            </a:pPr>
            <a:r>
              <a:t>Questions &amp; Answers</a:t>
            </a:r>
          </a:p>
          <a:p>
            <a:pPr algn="ctr">
              <a:defRPr sz="1100">
                <a:solidFill>
                  <a:srgbClr val="8899AA"/>
                </a:solidFill>
                <a:latin typeface="Arial"/>
              </a:defRPr>
            </a:pPr>
            <a:r>
              <a:t>GitHub Repository: Complete ETL Pipeline &amp; Reporting Suite</a:t>
            </a:r>
            <a:br/>
            <a:r>
              <a:t>Deliverables: Final_Report.pdf &amp; Bluestock_MF_Presentation.pptx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